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4.png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3.png"/><Relationship Id="rId7" Type="http://schemas.openxmlformats.org/officeDocument/2006/relationships/image" Target="../media/image8.png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3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065A82">
              <a:alpha val="5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10030460" y="3887470"/>
            <a:ext cx="3291840" cy="3291840"/>
          </a:xfrm>
          <a:prstGeom prst="ellipse">
            <a:avLst/>
          </a:prstGeom>
          <a:solidFill>
            <a:srgbClr val="02C39A">
              <a:alpha val="2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822960" y="1371600"/>
            <a:ext cx="8686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AI INTELLIGENCE LAYER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96012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Miracle Birds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8686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6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Secure AI Intelligence Layer for Every CRM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78638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Connects to Salesforce, Zoho, HubSpot, Dynamics 365, and Pipedrive — adding predictive insights, automated workflows, and a conversational AI Copilot on top.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566928" cy="566928"/>
          </a:xfrm>
          <a:prstGeom prst="ellipse">
            <a:avLst/>
          </a:prstGeom>
          <a:solidFill>
            <a:srgbClr val="1C7293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9" name="Image 0" descr="/home/claude/miracle_birds_ppt/icons/bra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684" y="5016764"/>
            <a:ext cx="317480" cy="317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493776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another CRM. An intelligence layer for the one you already use.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8FA3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MIRACLE BIRDS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Text Box 14"/>
          <p:cNvSpPr txBox="1"/>
          <p:nvPr/>
        </p:nvSpPr>
        <p:spPr>
          <a:xfrm>
            <a:off x="7512685" y="5101590"/>
            <a:ext cx="5622925" cy="1646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>
                <a:ln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A LOHIT</a:t>
            </a:r>
            <a:endParaRPr lang="en-US" sz="2800">
              <a:ln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  <a:p>
            <a:r>
              <a:rPr lang="en-US" sz="2800">
                <a:ln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R K ASHLIN MIRSHA</a:t>
            </a:r>
            <a:endParaRPr lang="en-US" sz="2800">
              <a:ln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  <a:p>
            <a:r>
              <a:rPr lang="en-US" sz="2800">
                <a:ln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R A BENESHA MERCY RAMESH</a:t>
            </a:r>
            <a:endParaRPr lang="en-US" sz="2800">
              <a:ln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2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Miracle Birds Does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12648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Miracle Birds is NOT another CRM. It connects to your existing CRM and layers AI-powered intelligence on top — giving your team predictive insights, automated workflows, and a conversational AI Copilot.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6126480" cy="0"/>
          </a:xfrm>
          <a:prstGeom prst="line">
            <a:avLst/>
          </a:prstGeom>
          <a:noFill/>
          <a:ln w="12700">
            <a:solidFill>
              <a:srgbClr val="E4EA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657600"/>
            <a:ext cx="6126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AS A LAYER, NOT A REPLACEMENT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6126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622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CRM stays the system of record. Miracle Birds reads, predicts, and acts on top of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60920" y="502920"/>
            <a:ext cx="4160520" cy="5623560"/>
          </a:xfrm>
          <a:prstGeom prst="roundRect">
            <a:avLst>
              <a:gd name="adj" fmla="val 3077"/>
            </a:avLst>
          </a:prstGeom>
          <a:solidFill>
            <a:srgbClr val="0F1B36"/>
          </a:solidFill>
        </p:spPr>
      </p:sp>
      <p:sp>
        <p:nvSpPr>
          <p:cNvPr id="9" name="Text 7"/>
          <p:cNvSpPr/>
          <p:nvPr/>
        </p:nvSpPr>
        <p:spPr>
          <a:xfrm>
            <a:off x="7680960" y="77724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Value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80960" y="1417320"/>
            <a:ext cx="475488" cy="475488"/>
          </a:xfrm>
          <a:prstGeom prst="ellipse">
            <a:avLst/>
          </a:prstGeom>
          <a:solidFill>
            <a:srgbClr val="065A82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11" name="Image 0" descr="/home/claude/miracle_birds_ppt/icons/commentDo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7945" y="1524305"/>
            <a:ext cx="261518" cy="26151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321040" y="1417320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 natural-language questions about your customers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680960" y="2423160"/>
            <a:ext cx="475488" cy="475488"/>
          </a:xfrm>
          <a:prstGeom prst="ellipse">
            <a:avLst/>
          </a:prstGeom>
          <a:solidFill>
            <a:srgbClr val="065A82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14" name="Image 1" descr="/home/claude/miracle_birds_ppt/icons/heartb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7945" y="2530145"/>
            <a:ext cx="261518" cy="26151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321040" y="2423160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 churn risk and health scores before they escalate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680960" y="3429000"/>
            <a:ext cx="475488" cy="475488"/>
          </a:xfrm>
          <a:prstGeom prst="ellipse">
            <a:avLst/>
          </a:prstGeom>
          <a:solidFill>
            <a:srgbClr val="065A82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17" name="Image 2" descr="/home/claude/miracle_birds_ppt/icons/chart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945" y="3535985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3429000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Forecast revenue 30/60/90 days out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680960" y="4434840"/>
            <a:ext cx="475488" cy="475488"/>
          </a:xfrm>
          <a:prstGeom prst="ellipse">
            <a:avLst/>
          </a:prstGeom>
          <a:solidFill>
            <a:srgbClr val="065A82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20" name="Image 3" descr="/home/claude/miracle_birds_ppt/icons/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7945" y="4541825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21040" y="4434840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Trigger workflows the moment predictions cross a threshold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MIRACLE BIRDS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2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Core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57860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AEE"/>
            </a:solidFill>
            <a:prstDash val="solid"/>
          </a:ln>
          <a:effectLst>
            <a:outerShdw blurRad="88900" dist="25400" dir="5400000" algn="bl" rotWithShape="0">
              <a:srgbClr val="0A0F1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91640"/>
            <a:ext cx="457200" cy="457200"/>
          </a:xfrm>
          <a:prstGeom prst="ellipse">
            <a:avLst/>
          </a:prstGeom>
          <a:solidFill>
            <a:srgbClr val="065A82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6" name="Image 0" descr="/home/claude/miracle_birds_ppt/icons/commentDo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542" y="179451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22860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2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CRM Copilot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86384" y="2743200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 natural language questions about your customers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64992" y="1508760"/>
            <a:ext cx="257860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AEE"/>
            </a:solidFill>
            <a:prstDash val="solid"/>
          </a:ln>
          <a:effectLst>
            <a:outerShdw blurRad="88900" dist="25400" dir="5400000" algn="bl" rotWithShape="0">
              <a:srgbClr val="0A0F1E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9584" y="1691640"/>
            <a:ext cx="457200" cy="457200"/>
          </a:xfrm>
          <a:prstGeom prst="ellipse">
            <a:avLst/>
          </a:prstGeom>
          <a:solidFill>
            <a:srgbClr val="065A82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11" name="Image 1" descr="/home/claude/miracle_birds_ppt/icons/heartb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454" y="179451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11296" y="22860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2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Churn Prediction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511296" y="2743200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XGBoost model — AUC-ROC &gt; 0.85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89904" y="1508760"/>
            <a:ext cx="257860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AEE"/>
            </a:solidFill>
            <a:prstDash val="solid"/>
          </a:ln>
          <a:effectLst>
            <a:outerShdw blurRad="88900" dist="25400" dir="5400000" algn="bl" rotWithShape="0">
              <a:srgbClr val="0A0F1E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54496" y="1691640"/>
            <a:ext cx="457200" cy="457200"/>
          </a:xfrm>
          <a:prstGeom prst="ellipse">
            <a:avLst/>
          </a:prstGeom>
          <a:solidFill>
            <a:srgbClr val="065A82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16" name="Image 2" descr="/home/claude/miracle_birds_ppt/icons/tachome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366" y="179451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36208" y="22860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2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 Scoring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236208" y="2743200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0-100 score with explainable factors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814816" y="1508760"/>
            <a:ext cx="257860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AEE"/>
            </a:solidFill>
            <a:prstDash val="solid"/>
          </a:ln>
          <a:effectLst>
            <a:outerShdw blurRad="88900" dist="25400" dir="5400000" algn="bl" rotWithShape="0">
              <a:srgbClr val="0A0F1E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79408" y="1691640"/>
            <a:ext cx="457200" cy="457200"/>
          </a:xfrm>
          <a:prstGeom prst="ellipse">
            <a:avLst/>
          </a:prstGeom>
          <a:solidFill>
            <a:srgbClr val="065A82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21" name="Image 3" descr="/home/claude/miracle_birds_ppt/icons/chart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2278" y="179451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61120" y="22860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2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Forecasting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961120" y="2743200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30/60/90-day forecasts per customer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40080" y="3639312"/>
            <a:ext cx="257860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AEE"/>
            </a:solidFill>
            <a:prstDash val="solid"/>
          </a:ln>
          <a:effectLst>
            <a:outerShdw blurRad="88900" dist="25400" dir="5400000" algn="bl" rotWithShape="0">
              <a:srgbClr val="0A0F1E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3822192"/>
            <a:ext cx="457200" cy="457200"/>
          </a:xfrm>
          <a:prstGeom prst="ellipse">
            <a:avLst/>
          </a:prstGeom>
          <a:solidFill>
            <a:srgbClr val="1C7293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26" name="Image 4" descr="/home/claude/miracle_birds_ppt/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542" y="3925062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86384" y="4416552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2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Health Score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786384" y="4873752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Composite score across 5 dimensions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364992" y="3639312"/>
            <a:ext cx="257860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AEE"/>
            </a:solidFill>
            <a:prstDash val="solid"/>
          </a:ln>
          <a:effectLst>
            <a:outerShdw blurRad="88900" dist="25400" dir="5400000" algn="bl" rotWithShape="0">
              <a:srgbClr val="0A0F1E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529584" y="3822192"/>
            <a:ext cx="457200" cy="457200"/>
          </a:xfrm>
          <a:prstGeom prst="ellipse">
            <a:avLst/>
          </a:prstGeom>
          <a:solidFill>
            <a:srgbClr val="1C7293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31" name="Image 5" descr="/home/claude/miracle_birds_ppt/icons/bo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2454" y="3925062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11296" y="4416552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2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 Best Action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3511296" y="4873752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AI-recommended actions per customer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089904" y="3639312"/>
            <a:ext cx="257860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AEE"/>
            </a:solidFill>
            <a:prstDash val="solid"/>
          </a:ln>
          <a:effectLst>
            <a:outerShdw blurRad="88900" dist="25400" dir="5400000" algn="bl" rotWithShape="0">
              <a:srgbClr val="0A0F1E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254496" y="3822192"/>
            <a:ext cx="457200" cy="457200"/>
          </a:xfrm>
          <a:prstGeom prst="ellipse">
            <a:avLst/>
          </a:prstGeom>
          <a:solidFill>
            <a:srgbClr val="1C7293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36" name="Image 6" descr="/home/claude/miracle_birds_ppt/icons/cog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7366" y="3925062"/>
            <a:ext cx="251460" cy="25146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36208" y="4416552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2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Workflow Automation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236208" y="4873752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Trigger emails/tasks on prediction thresholds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8814816" y="3639312"/>
            <a:ext cx="257860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AEE"/>
            </a:solidFill>
            <a:prstDash val="solid"/>
          </a:ln>
          <a:effectLst>
            <a:outerShdw blurRad="88900" dist="25400" dir="5400000" algn="bl" rotWithShape="0">
              <a:srgbClr val="0A0F1E">
                <a:alpha val="1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8979408" y="3822192"/>
            <a:ext cx="457200" cy="457200"/>
          </a:xfrm>
          <a:prstGeom prst="ellipse">
            <a:avLst/>
          </a:prstGeom>
          <a:solidFill>
            <a:srgbClr val="1C7293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41" name="Image 7" descr="/home/claude/miracle_birds_ppt/icons/plu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2278" y="3925062"/>
            <a:ext cx="251460" cy="25146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8961120" y="4416552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2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CRM Integration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8961120" y="4873752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Bi-directional sync, real-time webhooks, OAuth 2.0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MIRACLE BIRDS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C7293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3" name="Image 0" descr="/home/claude/miracle_birds_ppt/icons/layerGrou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581924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704088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1645920" y="1508760"/>
            <a:ext cx="2743200" cy="530352"/>
          </a:xfrm>
          <a:prstGeom prst="roundRect">
            <a:avLst>
              <a:gd name="adj" fmla="val 17241"/>
            </a:avLst>
          </a:prstGeom>
          <a:solidFill>
            <a:srgbClr val="1C7293"/>
          </a:solidFill>
        </p:spPr>
      </p:sp>
      <p:pic>
        <p:nvPicPr>
          <p:cNvPr id="7" name="Image 1" descr="/home/claude/miracle_birds_ppt/icons/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936" y="1627632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76272" y="1508760"/>
            <a:ext cx="212140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Browser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3017520" y="2039112"/>
            <a:ext cx="0" cy="219456"/>
          </a:xfrm>
          <a:prstGeom prst="line">
            <a:avLst/>
          </a:prstGeom>
          <a:noFill/>
          <a:ln w="19050">
            <a:solidFill>
              <a:srgbClr val="3E5570"/>
            </a:solidFill>
            <a:prstDash val="dash"/>
          </a:ln>
        </p:spPr>
      </p:sp>
      <p:sp>
        <p:nvSpPr>
          <p:cNvPr id="10" name="Shape 6"/>
          <p:cNvSpPr/>
          <p:nvPr/>
        </p:nvSpPr>
        <p:spPr>
          <a:xfrm>
            <a:off x="1097280" y="2258568"/>
            <a:ext cx="3840480" cy="530352"/>
          </a:xfrm>
          <a:prstGeom prst="roundRect">
            <a:avLst>
              <a:gd name="adj" fmla="val 17241"/>
            </a:avLst>
          </a:prstGeom>
          <a:solidFill>
            <a:srgbClr val="065A82"/>
          </a:solidFill>
        </p:spPr>
      </p:sp>
      <p:pic>
        <p:nvPicPr>
          <p:cNvPr id="11" name="Image 2" descr="/home/claude/miracle_birds_ppt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2377440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27632" y="2258568"/>
            <a:ext cx="321868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Next.js 14 Frontend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3017520" y="2788920"/>
            <a:ext cx="0" cy="219456"/>
          </a:xfrm>
          <a:prstGeom prst="line">
            <a:avLst/>
          </a:prstGeom>
          <a:noFill/>
          <a:ln w="19050">
            <a:solidFill>
              <a:srgbClr val="3E5570"/>
            </a:solidFill>
            <a:prstDash val="dash"/>
          </a:ln>
        </p:spPr>
      </p:sp>
      <p:sp>
        <p:nvSpPr>
          <p:cNvPr id="14" name="Shape 9"/>
          <p:cNvSpPr/>
          <p:nvPr/>
        </p:nvSpPr>
        <p:spPr>
          <a:xfrm>
            <a:off x="274320" y="3008376"/>
            <a:ext cx="5486400" cy="530352"/>
          </a:xfrm>
          <a:prstGeom prst="roundRect">
            <a:avLst>
              <a:gd name="adj" fmla="val 17241"/>
            </a:avLst>
          </a:prstGeom>
          <a:solidFill>
            <a:srgbClr val="065A82"/>
          </a:solidFill>
        </p:spPr>
      </p:sp>
      <p:pic>
        <p:nvPicPr>
          <p:cNvPr id="15" name="Image 3" descr="/home/claude/miracle_birds_ppt/icons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3127248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04672" y="3008376"/>
            <a:ext cx="486460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Backend API :8000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5897880" y="3008376"/>
            <a:ext cx="301752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FB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 16 + pgvector · Redis 7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3017520" y="3538728"/>
            <a:ext cx="0" cy="219456"/>
          </a:xfrm>
          <a:prstGeom prst="line">
            <a:avLst/>
          </a:prstGeom>
          <a:noFill/>
          <a:ln w="19050">
            <a:solidFill>
              <a:srgbClr val="3E5570"/>
            </a:solidFill>
            <a:prstDash val="dash"/>
          </a:ln>
        </p:spPr>
      </p:sp>
      <p:sp>
        <p:nvSpPr>
          <p:cNvPr id="19" name="Shape 13"/>
          <p:cNvSpPr/>
          <p:nvPr/>
        </p:nvSpPr>
        <p:spPr>
          <a:xfrm>
            <a:off x="640080" y="3831336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62447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1723644" y="4014216"/>
            <a:ext cx="438912" cy="438912"/>
          </a:xfrm>
          <a:prstGeom prst="ellipse">
            <a:avLst/>
          </a:prstGeom>
          <a:solidFill>
            <a:srgbClr val="02C39A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21" name="Image 4" descr="/home/claude/miracle_birds_ppt/icons/commentDo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2399" y="4112971"/>
            <a:ext cx="241402" cy="24140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49808" y="4581144"/>
            <a:ext cx="2386584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Engine :8001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749808" y="4928616"/>
            <a:ext cx="238658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9FB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OpenAI GPT-4 / Gemini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3429000" y="3831336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62447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512564" y="4014216"/>
            <a:ext cx="438912" cy="438912"/>
          </a:xfrm>
          <a:prstGeom prst="ellipse">
            <a:avLst/>
          </a:prstGeom>
          <a:solidFill>
            <a:srgbClr val="02C39A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26" name="Image 5" descr="/home/claude/miracle_birds_ppt/icons/chartB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1319" y="4112971"/>
            <a:ext cx="241402" cy="24140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538728" y="4581144"/>
            <a:ext cx="2386584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Engine :8002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3538728" y="4928616"/>
            <a:ext cx="238658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9FB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XGBoost / scikit-learn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6217920" y="3831336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62447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7301484" y="4014216"/>
            <a:ext cx="438912" cy="438912"/>
          </a:xfrm>
          <a:prstGeom prst="ellipse">
            <a:avLst/>
          </a:prstGeom>
          <a:solidFill>
            <a:srgbClr val="02C39A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31" name="Image 6" descr="/home/claude/miracle_birds_ppt/icons/plu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0239" y="4112971"/>
            <a:ext cx="241402" cy="24140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327648" y="4581144"/>
            <a:ext cx="2386584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CRM Service :8003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6327648" y="4928616"/>
            <a:ext cx="238658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9FB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Salesforce / Zoho / HubSpot / Dynamics / Pipedrive</a:t>
            </a:r>
            <a:endParaRPr lang="en-US" sz="950" dirty="0"/>
          </a:p>
        </p:txBody>
      </p:sp>
      <p:sp>
        <p:nvSpPr>
          <p:cNvPr id="34" name="Shape 25"/>
          <p:cNvSpPr/>
          <p:nvPr/>
        </p:nvSpPr>
        <p:spPr>
          <a:xfrm>
            <a:off x="9006840" y="3831336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62447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10090404" y="4014216"/>
            <a:ext cx="438912" cy="438912"/>
          </a:xfrm>
          <a:prstGeom prst="ellipse">
            <a:avLst/>
          </a:prstGeom>
          <a:solidFill>
            <a:srgbClr val="02C39A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36" name="Image 7" descr="/home/claude/miracle_birds_ppt/icons/shieldA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89159" y="4112971"/>
            <a:ext cx="241402" cy="24140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9116568" y="4581144"/>
            <a:ext cx="2386584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:8004</a:t>
            </a:r>
            <a:endParaRPr lang="en-US" sz="1200" dirty="0"/>
          </a:p>
        </p:txBody>
      </p:sp>
      <p:sp>
        <p:nvSpPr>
          <p:cNvPr id="38" name="Text 28"/>
          <p:cNvSpPr/>
          <p:nvPr/>
        </p:nvSpPr>
        <p:spPr>
          <a:xfrm>
            <a:off x="9116568" y="4928616"/>
            <a:ext cx="238658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9FB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Firewall / PII Detection</a:t>
            </a:r>
            <a:endParaRPr lang="en-US" sz="950" dirty="0"/>
          </a:p>
        </p:txBody>
      </p:sp>
      <p:sp>
        <p:nvSpPr>
          <p:cNvPr id="39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8FA3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MIRACLE BIRDS</a:t>
            </a:r>
            <a:endParaRPr lang="en-US" sz="900" dirty="0"/>
          </a:p>
        </p:txBody>
      </p:sp>
      <p:sp>
        <p:nvSpPr>
          <p:cNvPr id="40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21792" cy="621792"/>
          </a:xfrm>
          <a:prstGeom prst="ellipse">
            <a:avLst/>
          </a:prstGeom>
          <a:solidFill>
            <a:srgbClr val="065A82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3" name="Image 0" descr="/home/claude/miracle_birds_ppt/icons/co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642823"/>
            <a:ext cx="341986" cy="3419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749808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2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2624328" cy="4206240"/>
          </a:xfrm>
          <a:prstGeom prst="roundRect">
            <a:avLst>
              <a:gd name="adj" fmla="val 3484"/>
            </a:avLst>
          </a:prstGeom>
          <a:solidFill>
            <a:srgbClr val="F7F9FA"/>
          </a:solidFill>
          <a:ln w="12700">
            <a:solidFill>
              <a:srgbClr val="E4EA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600200"/>
            <a:ext cx="2624328" cy="868680"/>
          </a:xfrm>
          <a:prstGeom prst="roundRect">
            <a:avLst>
              <a:gd name="adj" fmla="val 10526"/>
            </a:avLst>
          </a:prstGeom>
          <a:solidFill>
            <a:srgbClr val="065A82"/>
          </a:solidFill>
        </p:spPr>
      </p:sp>
      <p:sp>
        <p:nvSpPr>
          <p:cNvPr id="8" name="Shape 5"/>
          <p:cNvSpPr/>
          <p:nvPr/>
        </p:nvSpPr>
        <p:spPr>
          <a:xfrm>
            <a:off x="640080" y="2039112"/>
            <a:ext cx="2624328" cy="429768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9" name="Shape 6"/>
          <p:cNvSpPr/>
          <p:nvPr/>
        </p:nvSpPr>
        <p:spPr>
          <a:xfrm>
            <a:off x="1723644" y="1801368"/>
            <a:ext cx="457200" cy="457200"/>
          </a:xfrm>
          <a:prstGeom prst="ellipse">
            <a:avLst/>
          </a:prstGeom>
          <a:solidFill>
            <a:srgbClr val="0F1B36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10" name="Image 1" descr="/home/claude/miracle_birds_ppt/icons/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514" y="1904238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" y="2514600"/>
            <a:ext cx="24414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2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22960" y="3017520"/>
            <a:ext cx="2258568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· SQLAlchemy 2.0 async · Pydantic v2 · Celery + Redis · Alembic · bcrypt + JWT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447288" y="1600200"/>
            <a:ext cx="2624328" cy="4206240"/>
          </a:xfrm>
          <a:prstGeom prst="roundRect">
            <a:avLst>
              <a:gd name="adj" fmla="val 3484"/>
            </a:avLst>
          </a:prstGeom>
          <a:solidFill>
            <a:srgbClr val="F7F9FA"/>
          </a:solidFill>
          <a:ln w="12700">
            <a:solidFill>
              <a:srgbClr val="E4EA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447288" y="1600200"/>
            <a:ext cx="2624328" cy="868680"/>
          </a:xfrm>
          <a:prstGeom prst="roundRect">
            <a:avLst>
              <a:gd name="adj" fmla="val 10526"/>
            </a:avLst>
          </a:prstGeom>
          <a:solidFill>
            <a:srgbClr val="1C7293"/>
          </a:solidFill>
        </p:spPr>
      </p:sp>
      <p:sp>
        <p:nvSpPr>
          <p:cNvPr id="15" name="Shape 11"/>
          <p:cNvSpPr/>
          <p:nvPr/>
        </p:nvSpPr>
        <p:spPr>
          <a:xfrm>
            <a:off x="3447288" y="2039112"/>
            <a:ext cx="2624328" cy="429768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16" name="Shape 12"/>
          <p:cNvSpPr/>
          <p:nvPr/>
        </p:nvSpPr>
        <p:spPr>
          <a:xfrm>
            <a:off x="4530852" y="1801368"/>
            <a:ext cx="457200" cy="457200"/>
          </a:xfrm>
          <a:prstGeom prst="ellipse">
            <a:avLst/>
          </a:prstGeom>
          <a:solidFill>
            <a:srgbClr val="0F1B36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17" name="Image 2" descr="/home/claude/miracle_birds_ppt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722" y="1904238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538728" y="2514600"/>
            <a:ext cx="24414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2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/ ML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3630168" y="3017520"/>
            <a:ext cx="2258568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LangChain · LangGraph · GPT-4-turbo · Gemini Pro · XGBoost · scikit-learn · SHAP · MLflow · pgvector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254496" y="1600200"/>
            <a:ext cx="2624328" cy="4206240"/>
          </a:xfrm>
          <a:prstGeom prst="roundRect">
            <a:avLst>
              <a:gd name="adj" fmla="val 3484"/>
            </a:avLst>
          </a:prstGeom>
          <a:solidFill>
            <a:srgbClr val="F7F9FA"/>
          </a:solidFill>
          <a:ln w="12700">
            <a:solidFill>
              <a:srgbClr val="E4EAE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254496" y="1600200"/>
            <a:ext cx="2624328" cy="868680"/>
          </a:xfrm>
          <a:prstGeom prst="roundRect">
            <a:avLst>
              <a:gd name="adj" fmla="val 10526"/>
            </a:avLst>
          </a:prstGeom>
          <a:solidFill>
            <a:srgbClr val="065A82"/>
          </a:solidFill>
        </p:spPr>
      </p:sp>
      <p:sp>
        <p:nvSpPr>
          <p:cNvPr id="22" name="Shape 17"/>
          <p:cNvSpPr/>
          <p:nvPr/>
        </p:nvSpPr>
        <p:spPr>
          <a:xfrm>
            <a:off x="6254496" y="2039112"/>
            <a:ext cx="2624328" cy="429768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23" name="Shape 18"/>
          <p:cNvSpPr/>
          <p:nvPr/>
        </p:nvSpPr>
        <p:spPr>
          <a:xfrm>
            <a:off x="7338060" y="1801368"/>
            <a:ext cx="457200" cy="457200"/>
          </a:xfrm>
          <a:prstGeom prst="ellipse">
            <a:avLst/>
          </a:prstGeom>
          <a:solidFill>
            <a:srgbClr val="0F1B36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24" name="Image 3" descr="/home/claude/miracle_birds_ppt/icons/co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0930" y="1904238"/>
            <a:ext cx="251460" cy="2514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45936" y="2514600"/>
            <a:ext cx="24414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2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437376" y="3017520"/>
            <a:ext cx="2258568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Next.js 14 · TypeScript · Tailwind CSS · Shadcn UI · TanStack Query · Zustand · React Hook Form + Zod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9061704" y="1600200"/>
            <a:ext cx="2624328" cy="4206240"/>
          </a:xfrm>
          <a:prstGeom prst="roundRect">
            <a:avLst>
              <a:gd name="adj" fmla="val 3484"/>
            </a:avLst>
          </a:prstGeom>
          <a:solidFill>
            <a:srgbClr val="F7F9FA"/>
          </a:solidFill>
          <a:ln w="12700">
            <a:solidFill>
              <a:srgbClr val="E4EAEE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9061704" y="1600200"/>
            <a:ext cx="2624328" cy="868680"/>
          </a:xfrm>
          <a:prstGeom prst="roundRect">
            <a:avLst>
              <a:gd name="adj" fmla="val 10526"/>
            </a:avLst>
          </a:prstGeom>
          <a:solidFill>
            <a:srgbClr val="1C7293"/>
          </a:solidFill>
        </p:spPr>
      </p:sp>
      <p:sp>
        <p:nvSpPr>
          <p:cNvPr id="29" name="Shape 23"/>
          <p:cNvSpPr/>
          <p:nvPr/>
        </p:nvSpPr>
        <p:spPr>
          <a:xfrm>
            <a:off x="9061704" y="2039112"/>
            <a:ext cx="2624328" cy="429768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30" name="Shape 24"/>
          <p:cNvSpPr/>
          <p:nvPr/>
        </p:nvSpPr>
        <p:spPr>
          <a:xfrm>
            <a:off x="10145268" y="1801368"/>
            <a:ext cx="457200" cy="457200"/>
          </a:xfrm>
          <a:prstGeom prst="ellipse">
            <a:avLst/>
          </a:prstGeom>
          <a:solidFill>
            <a:srgbClr val="0F1B36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31" name="Image 4" descr="/home/claude/miracle_birds_ppt/icons/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8138" y="1904238"/>
            <a:ext cx="251460" cy="2514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153144" y="2514600"/>
            <a:ext cx="24414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2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9244584" y="3017520"/>
            <a:ext cx="2258568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· Kubernetes (EKS) · Terraform · Prometheus · Grafana · GitHub Actions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MIRACLE BIRDS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21792" cy="621792"/>
          </a:xfrm>
          <a:prstGeom prst="ellipse">
            <a:avLst/>
          </a:prstGeom>
          <a:solidFill>
            <a:srgbClr val="065A82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3" name="Image 0" descr="/home/claude/miracle_birds_ppt/icons/plu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642823"/>
            <a:ext cx="341986" cy="3419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CONNECTS TO WHAT YOU USE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749808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2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CRM Integrations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417320" y="132588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Five CRM platforms via OAuth 2.0, with full, incremental, and (mostly) real-time webhook sync.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196596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4EAEE"/>
            </a:solidFill>
            <a:prstDash val="solid"/>
          </a:ln>
          <a:effectLst>
            <a:outerShdw blurRad="88900" dist="25400" dir="5400000" algn="bl" rotWithShape="0">
              <a:srgbClr val="0A0F1E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444752" y="2221992"/>
            <a:ext cx="475488" cy="475488"/>
          </a:xfrm>
          <a:prstGeom prst="ellipse">
            <a:avLst/>
          </a:prstGeom>
          <a:solidFill>
            <a:srgbClr val="065A82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9" name="Image 1" descr="/home/claude/miracle_birds_ppt/icons/exchangeA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737" y="2328977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2880360"/>
            <a:ext cx="1901952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2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Salesforce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31520" y="3520440"/>
            <a:ext cx="190195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REST v58.0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960120" y="3977640"/>
            <a:ext cx="1444752" cy="0"/>
          </a:xfrm>
          <a:prstGeom prst="line">
            <a:avLst/>
          </a:prstGeom>
          <a:noFill/>
          <a:ln w="12700">
            <a:solidFill>
              <a:srgbClr val="E4EAE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68096" y="4114800"/>
            <a:ext cx="1828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+ Incremental + Webhooks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889504" y="196596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4EAEE"/>
            </a:solidFill>
            <a:prstDash val="solid"/>
          </a:ln>
          <a:effectLst>
            <a:outerShdw blurRad="88900" dist="25400" dir="5400000" algn="bl" rotWithShape="0">
              <a:srgbClr val="0A0F1E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94176" y="2221992"/>
            <a:ext cx="475488" cy="475488"/>
          </a:xfrm>
          <a:prstGeom prst="ellipse">
            <a:avLst/>
          </a:prstGeom>
          <a:solidFill>
            <a:srgbClr val="1C7293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16" name="Image 2" descr="/home/claude/miracle_birds_ppt/icons/exchangeA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161" y="2328977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80360"/>
            <a:ext cx="1901952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2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Zoho CRM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2980944" y="3520440"/>
            <a:ext cx="190195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v3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209544" y="3977640"/>
            <a:ext cx="1444752" cy="0"/>
          </a:xfrm>
          <a:prstGeom prst="line">
            <a:avLst/>
          </a:prstGeom>
          <a:noFill/>
          <a:ln w="12700">
            <a:solidFill>
              <a:srgbClr val="E4EAE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017520" y="4114800"/>
            <a:ext cx="1828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+ Incremental + Webhooks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138928" y="196596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4EAEE"/>
            </a:solidFill>
            <a:prstDash val="solid"/>
          </a:ln>
          <a:effectLst>
            <a:outerShdw blurRad="88900" dist="25400" dir="5400000" algn="bl" rotWithShape="0">
              <a:srgbClr val="0A0F1E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943600" y="2221992"/>
            <a:ext cx="475488" cy="475488"/>
          </a:xfrm>
          <a:prstGeom prst="ellipse">
            <a:avLst/>
          </a:prstGeom>
          <a:solidFill>
            <a:srgbClr val="065A82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23" name="Image 3" descr="/home/claude/miracle_birds_ppt/icons/exchangeA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585" y="2328977"/>
            <a:ext cx="261518" cy="26151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30368" y="2880360"/>
            <a:ext cx="1901952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2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HubSpot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230368" y="3520440"/>
            <a:ext cx="190195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v3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458968" y="3977640"/>
            <a:ext cx="1444752" cy="0"/>
          </a:xfrm>
          <a:prstGeom prst="line">
            <a:avLst/>
          </a:prstGeom>
          <a:noFill/>
          <a:ln w="12700">
            <a:solidFill>
              <a:srgbClr val="E4EAEE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266944" y="4114800"/>
            <a:ext cx="1828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+ Incremental + Webhooks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7388352" y="196596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4EAEE"/>
            </a:solidFill>
            <a:prstDash val="solid"/>
          </a:ln>
          <a:effectLst>
            <a:outerShdw blurRad="88900" dist="25400" dir="5400000" algn="bl" rotWithShape="0">
              <a:srgbClr val="0A0F1E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193024" y="2221992"/>
            <a:ext cx="475488" cy="475488"/>
          </a:xfrm>
          <a:prstGeom prst="ellipse">
            <a:avLst/>
          </a:prstGeom>
          <a:solidFill>
            <a:srgbClr val="1C7293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30" name="Image 4" descr="/home/claude/miracle_birds_ppt/icons/exchangeA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0009" y="2328977"/>
            <a:ext cx="261518" cy="26151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479792" y="2880360"/>
            <a:ext cx="1901952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2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Microsoft Dynamics 365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7479792" y="3520440"/>
            <a:ext cx="190195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Web API v9.2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7708392" y="3977640"/>
            <a:ext cx="1444752" cy="0"/>
          </a:xfrm>
          <a:prstGeom prst="line">
            <a:avLst/>
          </a:prstGeom>
          <a:noFill/>
          <a:ln w="12700">
            <a:solidFill>
              <a:srgbClr val="E4EAEE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7516368" y="4114800"/>
            <a:ext cx="1828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4B9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+ Incremental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9637776" y="196596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4EAEE"/>
            </a:solidFill>
            <a:prstDash val="solid"/>
          </a:ln>
          <a:effectLst>
            <a:outerShdw blurRad="88900" dist="25400" dir="5400000" algn="bl" rotWithShape="0">
              <a:srgbClr val="0A0F1E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10442448" y="2221992"/>
            <a:ext cx="475488" cy="475488"/>
          </a:xfrm>
          <a:prstGeom prst="ellipse">
            <a:avLst/>
          </a:prstGeom>
          <a:solidFill>
            <a:srgbClr val="065A82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37" name="Image 5" descr="/home/claude/miracle_birds_ppt/icons/exchangeA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9433" y="2328977"/>
            <a:ext cx="261518" cy="26151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729216" y="2880360"/>
            <a:ext cx="1901952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2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Pipedrive</a:t>
            </a:r>
            <a:endParaRPr lang="en-US" sz="1250" dirty="0"/>
          </a:p>
        </p:txBody>
      </p:sp>
      <p:sp>
        <p:nvSpPr>
          <p:cNvPr id="39" name="Text 31"/>
          <p:cNvSpPr/>
          <p:nvPr/>
        </p:nvSpPr>
        <p:spPr>
          <a:xfrm>
            <a:off x="9729216" y="3520440"/>
            <a:ext cx="190195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v1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9957816" y="3977640"/>
            <a:ext cx="1444752" cy="0"/>
          </a:xfrm>
          <a:prstGeom prst="line">
            <a:avLst/>
          </a:prstGeom>
          <a:noFill/>
          <a:ln w="12700">
            <a:solidFill>
              <a:srgbClr val="E4EAEE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9765792" y="4114800"/>
            <a:ext cx="1828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+ Incremental + Webhooks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MIRACLE BIRDS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4206240" cy="4206240"/>
          </a:xfrm>
          <a:prstGeom prst="ellipse">
            <a:avLst/>
          </a:prstGeom>
          <a:solidFill>
            <a:srgbClr val="065A82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C7293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4" name="Image 0" descr="/home/claude/miracle_birds_ppt/icons/shieldAl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627644"/>
            <a:ext cx="317480" cy="317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5029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TRUST BY DESIGN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371600" y="749808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Security &amp; Compliance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475488" cy="475488"/>
          </a:xfrm>
          <a:prstGeom prst="ellipse">
            <a:avLst/>
          </a:prstGeom>
          <a:solidFill>
            <a:srgbClr val="065A82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8" name="Image 1" descr="/home/claude/miracle_birds_ppt/icons/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5" y="1798625"/>
            <a:ext cx="261518" cy="261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1673352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Injection Firewall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280160" y="1947672"/>
            <a:ext cx="5394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 + ML detection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40080" y="2487168"/>
            <a:ext cx="475488" cy="475488"/>
          </a:xfrm>
          <a:prstGeom prst="ellipse">
            <a:avLst/>
          </a:prstGeom>
          <a:solidFill>
            <a:srgbClr val="065A82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12" name="Image 2" descr="/home/claude/miracle_birds_ppt/icons/shieldAl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5" y="2594153"/>
            <a:ext cx="261518" cy="2615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2468880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PII Detection &amp; Masking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280160" y="2743200"/>
            <a:ext cx="5394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Email, phone, SSN, credit cards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40080" y="3282696"/>
            <a:ext cx="475488" cy="475488"/>
          </a:xfrm>
          <a:prstGeom prst="ellipse">
            <a:avLst/>
          </a:prstGeom>
          <a:solidFill>
            <a:srgbClr val="065A82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16" name="Image 3" descr="/home/claude/miracle_birds_ppt/icons/layerGro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5" y="3389681"/>
            <a:ext cx="261518" cy="26151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3264408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7-Layer Defense in Depth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1280160" y="3538728"/>
            <a:ext cx="5394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Redundant protection at every tier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40080" y="4078224"/>
            <a:ext cx="475488" cy="475488"/>
          </a:xfrm>
          <a:prstGeom prst="ellipse">
            <a:avLst/>
          </a:prstGeom>
          <a:solidFill>
            <a:srgbClr val="065A82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20" name="Image 4" descr="/home/claude/miracle_birds_ppt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5" y="4185209"/>
            <a:ext cx="261518" cy="26151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80160" y="4059936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+ RBAC + MFA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1280160" y="4334256"/>
            <a:ext cx="5394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Layered authentication &amp; access control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40080" y="4873752"/>
            <a:ext cx="475488" cy="475488"/>
          </a:xfrm>
          <a:prstGeom prst="ellipse">
            <a:avLst/>
          </a:prstGeom>
          <a:solidFill>
            <a:srgbClr val="065A82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24" name="Image 5" descr="/home/claude/miracle_birds_ppt/icons/clipboardL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5" y="4980737"/>
            <a:ext cx="261518" cy="26151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80160" y="4855464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Immutable Audit Logs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1280160" y="5129784"/>
            <a:ext cx="5394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90-day retention on every action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7178040" y="1691640"/>
            <a:ext cx="4343400" cy="4114800"/>
          </a:xfrm>
          <a:prstGeom prst="roundRect">
            <a:avLst>
              <a:gd name="adj" fmla="val 3111"/>
            </a:avLst>
          </a:prstGeom>
          <a:solidFill>
            <a:srgbClr val="162447"/>
          </a:solidFill>
        </p:spPr>
      </p:sp>
      <p:sp>
        <p:nvSpPr>
          <p:cNvPr id="28" name="Text 20"/>
          <p:cNvSpPr/>
          <p:nvPr/>
        </p:nvSpPr>
        <p:spPr>
          <a:xfrm>
            <a:off x="7452360" y="19659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Compliance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7452360" y="2468880"/>
            <a:ext cx="1783080" cy="658368"/>
          </a:xfrm>
          <a:prstGeom prst="roundRect">
            <a:avLst>
              <a:gd name="adj" fmla="val 13889"/>
            </a:avLst>
          </a:prstGeom>
          <a:solidFill>
            <a:srgbClr val="0F1B36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7452360" y="2468880"/>
            <a:ext cx="17830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GDPR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9372600" y="2468880"/>
            <a:ext cx="1783080" cy="658368"/>
          </a:xfrm>
          <a:prstGeom prst="roundRect">
            <a:avLst>
              <a:gd name="adj" fmla="val 13889"/>
            </a:avLst>
          </a:prstGeom>
          <a:solidFill>
            <a:srgbClr val="0F1B36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9372600" y="2468880"/>
            <a:ext cx="17830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 2 Type II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7452360" y="3337560"/>
            <a:ext cx="1783080" cy="658368"/>
          </a:xfrm>
          <a:prstGeom prst="roundRect">
            <a:avLst>
              <a:gd name="adj" fmla="val 13889"/>
            </a:avLst>
          </a:prstGeom>
          <a:solidFill>
            <a:srgbClr val="0F1B36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7452360" y="3337560"/>
            <a:ext cx="17830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HIPAA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9372600" y="3337560"/>
            <a:ext cx="1783080" cy="658368"/>
          </a:xfrm>
          <a:prstGeom prst="roundRect">
            <a:avLst>
              <a:gd name="adj" fmla="val 13889"/>
            </a:avLst>
          </a:prstGeom>
          <a:solidFill>
            <a:srgbClr val="0F1B36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9372600" y="3337560"/>
            <a:ext cx="17830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CCPA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7452360" y="4434840"/>
            <a:ext cx="379476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9FB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and privacy controls verified against each framework's technical requirements.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8FA3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MIRACLE BIRDS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21792" cy="621792"/>
          </a:xfrm>
          <a:prstGeom prst="ellipse">
            <a:avLst/>
          </a:prstGeom>
          <a:solidFill>
            <a:srgbClr val="065A82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3" name="Image 0" descr="/home/claude/miracle_birds_ppt/icons/tachome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642823"/>
            <a:ext cx="341986" cy="3419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TO SCALE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74980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2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Performance Targets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2084832" cy="2743200"/>
          </a:xfrm>
          <a:prstGeom prst="roundRect">
            <a:avLst>
              <a:gd name="adj" fmla="val 5263"/>
            </a:avLst>
          </a:prstGeom>
          <a:solidFill>
            <a:srgbClr val="0F1B36"/>
          </a:solidFill>
        </p:spPr>
      </p:sp>
      <p:sp>
        <p:nvSpPr>
          <p:cNvPr id="7" name="Shape 4"/>
          <p:cNvSpPr/>
          <p:nvPr/>
        </p:nvSpPr>
        <p:spPr>
          <a:xfrm>
            <a:off x="640080" y="1920240"/>
            <a:ext cx="2084832" cy="128016"/>
          </a:xfrm>
          <a:prstGeom prst="roundRect">
            <a:avLst/>
          </a:prstGeom>
          <a:solidFill>
            <a:srgbClr val="065A82"/>
          </a:solidFill>
        </p:spPr>
      </p:sp>
      <p:sp>
        <p:nvSpPr>
          <p:cNvPr id="8" name="Text 5"/>
          <p:cNvSpPr/>
          <p:nvPr/>
        </p:nvSpPr>
        <p:spPr>
          <a:xfrm>
            <a:off x="731520" y="2560320"/>
            <a:ext cx="190195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&lt; 200ms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77240" y="3749040"/>
            <a:ext cx="1810512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P95 Response Time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889504" y="1920240"/>
            <a:ext cx="2084832" cy="2743200"/>
          </a:xfrm>
          <a:prstGeom prst="roundRect">
            <a:avLst>
              <a:gd name="adj" fmla="val 5263"/>
            </a:avLst>
          </a:prstGeom>
          <a:solidFill>
            <a:srgbClr val="0F1B36"/>
          </a:solidFill>
        </p:spPr>
      </p:sp>
      <p:sp>
        <p:nvSpPr>
          <p:cNvPr id="11" name="Shape 8"/>
          <p:cNvSpPr/>
          <p:nvPr/>
        </p:nvSpPr>
        <p:spPr>
          <a:xfrm>
            <a:off x="2889504" y="1920240"/>
            <a:ext cx="2084832" cy="128016"/>
          </a:xfrm>
          <a:prstGeom prst="roundRect">
            <a:avLst/>
          </a:prstGeom>
          <a:solidFill>
            <a:srgbClr val="1C7293"/>
          </a:solidFill>
        </p:spPr>
      </p:sp>
      <p:sp>
        <p:nvSpPr>
          <p:cNvPr id="12" name="Text 9"/>
          <p:cNvSpPr/>
          <p:nvPr/>
        </p:nvSpPr>
        <p:spPr>
          <a:xfrm>
            <a:off x="2980944" y="2560320"/>
            <a:ext cx="190195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B9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&lt; 2s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3026664" y="3749040"/>
            <a:ext cx="1810512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Prediction Latency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138928" y="1920240"/>
            <a:ext cx="2084832" cy="2743200"/>
          </a:xfrm>
          <a:prstGeom prst="roundRect">
            <a:avLst>
              <a:gd name="adj" fmla="val 5263"/>
            </a:avLst>
          </a:prstGeom>
          <a:solidFill>
            <a:srgbClr val="0F1B36"/>
          </a:solidFill>
        </p:spPr>
      </p:sp>
      <p:sp>
        <p:nvSpPr>
          <p:cNvPr id="15" name="Shape 12"/>
          <p:cNvSpPr/>
          <p:nvPr/>
        </p:nvSpPr>
        <p:spPr>
          <a:xfrm>
            <a:off x="5138928" y="1920240"/>
            <a:ext cx="2084832" cy="128016"/>
          </a:xfrm>
          <a:prstGeom prst="roundRect">
            <a:avLst/>
          </a:prstGeom>
          <a:solidFill>
            <a:srgbClr val="065A82"/>
          </a:solidFill>
        </p:spPr>
      </p:sp>
      <p:sp>
        <p:nvSpPr>
          <p:cNvPr id="16" name="Text 13"/>
          <p:cNvSpPr/>
          <p:nvPr/>
        </p:nvSpPr>
        <p:spPr>
          <a:xfrm>
            <a:off x="5230368" y="2560320"/>
            <a:ext cx="190195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&lt; 5s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5276088" y="3749040"/>
            <a:ext cx="1810512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Copilot Response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388352" y="1920240"/>
            <a:ext cx="2084832" cy="2743200"/>
          </a:xfrm>
          <a:prstGeom prst="roundRect">
            <a:avLst>
              <a:gd name="adj" fmla="val 5263"/>
            </a:avLst>
          </a:prstGeom>
          <a:solidFill>
            <a:srgbClr val="0F1B36"/>
          </a:solidFill>
        </p:spPr>
      </p:sp>
      <p:sp>
        <p:nvSpPr>
          <p:cNvPr id="19" name="Shape 16"/>
          <p:cNvSpPr/>
          <p:nvPr/>
        </p:nvSpPr>
        <p:spPr>
          <a:xfrm>
            <a:off x="7388352" y="1920240"/>
            <a:ext cx="2084832" cy="128016"/>
          </a:xfrm>
          <a:prstGeom prst="roundRect">
            <a:avLst/>
          </a:prstGeom>
          <a:solidFill>
            <a:srgbClr val="1C7293"/>
          </a:solidFill>
        </p:spPr>
      </p:sp>
      <p:sp>
        <p:nvSpPr>
          <p:cNvPr id="20" name="Text 17"/>
          <p:cNvSpPr/>
          <p:nvPr/>
        </p:nvSpPr>
        <p:spPr>
          <a:xfrm>
            <a:off x="7479792" y="2560320"/>
            <a:ext cx="190195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B9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99.9%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7525512" y="3749040"/>
            <a:ext cx="1810512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Uptime SLA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637776" y="1920240"/>
            <a:ext cx="2084832" cy="2743200"/>
          </a:xfrm>
          <a:prstGeom prst="roundRect">
            <a:avLst>
              <a:gd name="adj" fmla="val 5263"/>
            </a:avLst>
          </a:prstGeom>
          <a:solidFill>
            <a:srgbClr val="0F1B36"/>
          </a:solidFill>
        </p:spPr>
      </p:sp>
      <p:sp>
        <p:nvSpPr>
          <p:cNvPr id="23" name="Shape 20"/>
          <p:cNvSpPr/>
          <p:nvPr/>
        </p:nvSpPr>
        <p:spPr>
          <a:xfrm>
            <a:off x="9637776" y="1920240"/>
            <a:ext cx="2084832" cy="128016"/>
          </a:xfrm>
          <a:prstGeom prst="roundRect">
            <a:avLst/>
          </a:prstGeom>
          <a:solidFill>
            <a:srgbClr val="065A82"/>
          </a:solidFill>
        </p:spPr>
      </p:sp>
      <p:sp>
        <p:nvSpPr>
          <p:cNvPr id="24" name="Text 21"/>
          <p:cNvSpPr/>
          <p:nvPr/>
        </p:nvSpPr>
        <p:spPr>
          <a:xfrm>
            <a:off x="9729216" y="2560320"/>
            <a:ext cx="190195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10,000+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9774936" y="3749040"/>
            <a:ext cx="1810512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Concurrent Users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40080" y="5029200"/>
            <a:ext cx="10881360" cy="0"/>
          </a:xfrm>
          <a:prstGeom prst="line">
            <a:avLst/>
          </a:prstGeom>
          <a:noFill/>
          <a:ln w="12700">
            <a:solidFill>
              <a:srgbClr val="E4EAE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Targets are validated in staging under simulated load before every production release.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MIRACLE BIRDS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21792" cy="621792"/>
          </a:xfrm>
          <a:prstGeom prst="ellipse">
            <a:avLst/>
          </a:prstGeom>
          <a:solidFill>
            <a:srgbClr val="065A82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3" name="Image 0" descr="/home/claude/miracle_birds_ppt/icons/boxOpe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" y="642823"/>
            <a:ext cx="341986" cy="3419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 START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74980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2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Up and Running Locally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4592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AEE"/>
            </a:solidFill>
            <a:prstDash val="solid"/>
          </a:ln>
          <a:effectLst>
            <a:outerShdw blurRad="88900" dist="25400" dir="5400000" algn="bl" rotWithShape="0">
              <a:srgbClr val="0A0F1E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8" name="Text 5"/>
          <p:cNvSpPr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04672" y="2468880"/>
            <a:ext cx="218541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22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Clone the repo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" y="3017520"/>
            <a:ext cx="2185416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clone the project and cd into it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37560" y="164592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AEE"/>
            </a:solidFill>
            <a:prstDash val="solid"/>
          </a:ln>
          <a:effectLst>
            <a:outerShdw blurRad="88900" dist="25400" dir="5400000" algn="bl" rotWithShape="0">
              <a:srgbClr val="0A0F1E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20440" y="1828800"/>
            <a:ext cx="457200" cy="45720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3" name="Text 10"/>
          <p:cNvSpPr/>
          <p:nvPr/>
        </p:nvSpPr>
        <p:spPr>
          <a:xfrm>
            <a:off x="3520440" y="18288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502152" y="2468880"/>
            <a:ext cx="218541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22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Configure environment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502152" y="3017520"/>
            <a:ext cx="2185416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Copy .env.example, add OpenAI key + CRM OAuth credentials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035040" y="164592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AEE"/>
            </a:solidFill>
            <a:prstDash val="solid"/>
          </a:ln>
          <a:effectLst>
            <a:outerShdw blurRad="88900" dist="25400" dir="5400000" algn="bl" rotWithShape="0">
              <a:srgbClr val="0A0F1E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17920" y="1828800"/>
            <a:ext cx="457200" cy="457200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8" name="Text 15"/>
          <p:cNvSpPr/>
          <p:nvPr/>
        </p:nvSpPr>
        <p:spPr>
          <a:xfrm>
            <a:off x="6217920" y="18288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199632" y="2468880"/>
            <a:ext cx="218541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22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 all services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199632" y="3017520"/>
            <a:ext cx="2185416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compose up --build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732520" y="164592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AEE"/>
            </a:solidFill>
            <a:prstDash val="solid"/>
          </a:ln>
          <a:effectLst>
            <a:outerShdw blurRad="88900" dist="25400" dir="5400000" algn="bl" rotWithShape="0">
              <a:srgbClr val="0A0F1E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915400" y="1828800"/>
            <a:ext cx="457200" cy="45720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3" name="Text 20"/>
          <p:cNvSpPr/>
          <p:nvPr/>
        </p:nvSpPr>
        <p:spPr>
          <a:xfrm>
            <a:off x="8915400" y="18288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897112" y="2468880"/>
            <a:ext cx="218541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22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the app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897112" y="3017520"/>
            <a:ext cx="2185416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Frontend, API docs, MLflow, and Grafana all run locally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40080" y="4160520"/>
            <a:ext cx="10908792" cy="1417320"/>
          </a:xfrm>
          <a:prstGeom prst="roundRect">
            <a:avLst>
              <a:gd name="adj" fmla="val 7742"/>
            </a:avLst>
          </a:prstGeom>
          <a:solidFill>
            <a:srgbClr val="0F1B36"/>
          </a:solidFill>
        </p:spPr>
      </p:sp>
      <p:pic>
        <p:nvPicPr>
          <p:cNvPr id="27" name="Image 1" descr="/home/claude/miracle_birds_ppt/icons/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480560"/>
            <a:ext cx="365760" cy="36576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463040" y="4434840"/>
            <a:ext cx="9692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Prerequisites: Docker Desktop 4.x+ · Node.js 20+ · Python 3.11+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1463040" y="4846320"/>
            <a:ext cx="96926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9FB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docs: Technical Blueprint · SRS · SDD · API Reference · System Architecture · Database Schema · Security Architecture · Deployment Guide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MIRACLE BIRDS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2011680" y="347472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822960" y="685800"/>
            <a:ext cx="566928" cy="566928"/>
          </a:xfrm>
          <a:prstGeom prst="ellipse">
            <a:avLst/>
          </a:prstGeom>
          <a:solidFill>
            <a:srgbClr val="02C39A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5" name="Image 0" descr="/home/claude/miracle_birds_ppt/icons/bra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684" y="810524"/>
            <a:ext cx="317480" cy="317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73152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TAKEAWAY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141732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 AI layer. Every CRM. Zero rip-and-replace.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79552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Miracle Birds sits on top of the CRM your team already trusts, adding prediction, automation, and a conversational Copilot — secured, compliant, and built to scale to 10,000+ concurrent users.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3611880"/>
            <a:ext cx="1645920" cy="566928"/>
          </a:xfrm>
          <a:prstGeom prst="roundRect">
            <a:avLst>
              <a:gd name="adj" fmla="val 50000"/>
            </a:avLst>
          </a:prstGeom>
          <a:solidFill>
            <a:srgbClr val="162447"/>
          </a:solidFill>
          <a:ln w="12700">
            <a:solidFill>
              <a:srgbClr val="3E5570"/>
            </a:solidFill>
            <a:prstDash val="solid"/>
          </a:ln>
        </p:spPr>
      </p:sp>
      <p:pic>
        <p:nvPicPr>
          <p:cNvPr id="10" name="Image 1" descr="/home/claude/miracle_birds_ppt/icons/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373989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98448" y="3611880"/>
            <a:ext cx="111556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Copilot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2633472" y="3611880"/>
            <a:ext cx="2221992" cy="566928"/>
          </a:xfrm>
          <a:prstGeom prst="roundRect">
            <a:avLst>
              <a:gd name="adj" fmla="val 50000"/>
            </a:avLst>
          </a:prstGeom>
          <a:solidFill>
            <a:srgbClr val="162447"/>
          </a:solidFill>
          <a:ln w="12700">
            <a:solidFill>
              <a:srgbClr val="3E5570"/>
            </a:solidFill>
            <a:prstDash val="solid"/>
          </a:ln>
        </p:spPr>
      </p:sp>
      <p:pic>
        <p:nvPicPr>
          <p:cNvPr id="13" name="Image 2" descr="/home/claude/miracle_birds_ppt/icons/heartbe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488" y="3739896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108960" y="3611880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Churn Prediction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020056" y="3611880"/>
            <a:ext cx="2510028" cy="566928"/>
          </a:xfrm>
          <a:prstGeom prst="roundRect">
            <a:avLst>
              <a:gd name="adj" fmla="val 50000"/>
            </a:avLst>
          </a:prstGeom>
          <a:solidFill>
            <a:srgbClr val="162447"/>
          </a:solidFill>
          <a:ln w="12700">
            <a:solidFill>
              <a:srgbClr val="3E5570"/>
            </a:solidFill>
            <a:prstDash val="solid"/>
          </a:ln>
        </p:spPr>
      </p:sp>
      <p:pic>
        <p:nvPicPr>
          <p:cNvPr id="16" name="Image 3" descr="/home/claude/miracle_birds_ppt/icons/chart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72" y="3739896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95544" y="3611880"/>
            <a:ext cx="1979676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Forecasting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7694676" y="3611880"/>
            <a:ext cx="2221992" cy="566928"/>
          </a:xfrm>
          <a:prstGeom prst="roundRect">
            <a:avLst>
              <a:gd name="adj" fmla="val 50000"/>
            </a:avLst>
          </a:prstGeom>
          <a:solidFill>
            <a:srgbClr val="162447"/>
          </a:solidFill>
          <a:ln w="12700">
            <a:solidFill>
              <a:srgbClr val="3E5570"/>
            </a:solidFill>
            <a:prstDash val="solid"/>
          </a:ln>
        </p:spPr>
      </p:sp>
      <p:pic>
        <p:nvPicPr>
          <p:cNvPr id="19" name="Image 4" descr="/home/claude/miracle_birds_ppt/icons/shieldA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2692" y="3739896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170164" y="3611880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by Design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822960" y="4526280"/>
            <a:ext cx="9601200" cy="1417320"/>
          </a:xfrm>
          <a:prstGeom prst="roundRect">
            <a:avLst>
              <a:gd name="adj" fmla="val 9032"/>
            </a:avLst>
          </a:prstGeom>
          <a:solidFill>
            <a:srgbClr val="162447"/>
          </a:solidFill>
        </p:spPr>
      </p:sp>
      <p:sp>
        <p:nvSpPr>
          <p:cNvPr id="22" name="Shape 15"/>
          <p:cNvSpPr/>
          <p:nvPr/>
        </p:nvSpPr>
        <p:spPr>
          <a:xfrm>
            <a:off x="1097280" y="4800600"/>
            <a:ext cx="512064" cy="512064"/>
          </a:xfrm>
          <a:prstGeom prst="ellipse">
            <a:avLst/>
          </a:prstGeom>
          <a:solidFill>
            <a:srgbClr val="02C39A"/>
          </a:solidFill>
          <a:effectLst>
            <a:outerShdw blurRad="76200" dist="25400" dir="5400000" algn="bl" rotWithShape="0">
              <a:srgbClr val="0A0F1E">
                <a:alpha val="25000"/>
              </a:srgbClr>
            </a:outerShdw>
          </a:effectLst>
        </p:spPr>
      </p:sp>
      <p:pic>
        <p:nvPicPr>
          <p:cNvPr id="23" name="Image 5" descr="/home/claude/miracle_birds_ppt/icons/rock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2494" y="4915814"/>
            <a:ext cx="281635" cy="28163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828800" y="4754880"/>
            <a:ext cx="8366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Proprietary — © 2026 Miracle Birds. All rights reserved.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1828800" y="5257800"/>
            <a:ext cx="8366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Ready to see it connected to your CRM? Let's schedule a walkthrough.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8FA3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MIRACLE BIRDS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4226</Words>
  <Application>WPS Presentation</Application>
  <PresentationFormat>On-screen Show (16:9)</PresentationFormat>
  <Paragraphs>306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BENESHA</cp:lastModifiedBy>
  <cp:revision>2</cp:revision>
  <dcterms:created xsi:type="dcterms:W3CDTF">2026-07-20T11:59:00Z</dcterms:created>
  <dcterms:modified xsi:type="dcterms:W3CDTF">2026-07-20T12:43:03Z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439A095C11A648BDA3E595CD5D1C8CB0_12</vt:lpwstr>
  </property>
</Properties>
</file>